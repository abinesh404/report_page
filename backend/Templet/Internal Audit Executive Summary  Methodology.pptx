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Inter Light" panose="020B0604020202020204" charset="0"/>
      <p:regular r:id="rId16"/>
      <p:bold r:id="rId17"/>
      <p:italic r:id="rId18"/>
      <p:boldItalic r:id="rId19"/>
    </p:embeddedFont>
    <p:embeddedFont>
      <p:font typeface="Inter SemiBold" panose="020B0604020202020204" charset="0"/>
      <p:regular r:id="rId20"/>
      <p:bold r:id="rId21"/>
      <p:italic r:id="rId22"/>
      <p:boldItalic r:id="rId23"/>
    </p:embeddedFont>
    <p:embeddedFont>
      <p:font typeface="Playfair Display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5120F4-9FCE-496C-B3C3-FE701633F1BC}">
  <a:tblStyle styleId="{D85120F4-9FCE-496C-B3C3-FE701633F1B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949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615439" y="2556718"/>
            <a:ext cx="896112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Internal Audit &amp; Executive Summary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238500" y="4088159"/>
            <a:ext cx="57150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64748B"/>
                </a:solidFill>
                <a:latin typeface="Inter Light"/>
                <a:ea typeface="Inter Light"/>
                <a:cs typeface="Inter Light"/>
                <a:sym typeface="Inter Light"/>
              </a:rPr>
              <a:t>Comprehensive Review: Q3 2026.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44AA48-978E-9E4F-180B-9C841F465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1523" y="251454"/>
            <a:ext cx="1445341" cy="8954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76425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762000" y="647700"/>
            <a:ext cx="11201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Introduction &amp; Background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1967954"/>
            <a:ext cx="530066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Context of the Review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2387054"/>
            <a:ext cx="504825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 accordance with the 2026 Annual Audit Plan, Internal Audit has initiated a comprehensive review of </a:t>
            </a:r>
            <a:r>
              <a:rPr lang="en-US" sz="1350" b="1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CJSJ Ltd</a:t>
            </a:r>
            <a:r>
              <a:rPr lang="en-US" sz="13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a key player in the manufacturing sector.</a:t>
            </a:r>
            <a:endParaRPr lang="en-US" sz="1200"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3516960"/>
            <a:ext cx="50482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Our audit focuses on evaluating the robustness of CJSJ </a:t>
            </a:r>
            <a:r>
              <a:rPr lang="en-US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Ltd's</a:t>
            </a:r>
            <a:r>
              <a:rPr lang="en-US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core manufacturing operations, supply chain management, and corresponding financial controls.</a:t>
            </a:r>
            <a:endParaRPr lang="en-US"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4683799"/>
            <a:ext cx="50482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primary objective is to provide independent assurance to the Board regarding the effectiveness of the risk management framework, specifically targeting production efficiency and operational resilience.</a:t>
            </a:r>
            <a:endParaRPr lang="en-US" sz="1200" dirty="0"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04155" y="1491928"/>
            <a:ext cx="5456903" cy="4375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395B31B-67E1-499B-19BD-973A07EAA6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1523" y="241622"/>
            <a:ext cx="1445341" cy="8954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762000" y="647700"/>
            <a:ext cx="11201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Audit Scope</a:t>
            </a:r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08087BC-E3F0-A479-AC1E-054ABDD0D984}"/>
              </a:ext>
            </a:extLst>
          </p:cNvPr>
          <p:cNvGrpSpPr/>
          <p:nvPr/>
        </p:nvGrpSpPr>
        <p:grpSpPr>
          <a:xfrm>
            <a:off x="762000" y="2385350"/>
            <a:ext cx="9994490" cy="3824950"/>
            <a:chOff x="762000" y="2077491"/>
            <a:chExt cx="3302049" cy="3598366"/>
          </a:xfrm>
        </p:grpSpPr>
        <p:pic>
          <p:nvPicPr>
            <p:cNvPr id="107" name="Google Shape;107;p15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2000" y="2077491"/>
              <a:ext cx="3302049" cy="35983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15"/>
            <p:cNvSpPr txBox="1"/>
            <p:nvPr/>
          </p:nvSpPr>
          <p:spPr>
            <a:xfrm>
              <a:off x="1088694" y="2499864"/>
              <a:ext cx="2847074" cy="276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1E3A8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In-Scope Areas</a:t>
              </a:r>
              <a:endParaRPr dirty="0"/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1061488" y="3164213"/>
              <a:ext cx="2711499" cy="228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en-IN" dirty="0">
                  <a:solidFill>
                    <a:schemeClr val="tx1"/>
                  </a:solidFill>
                  <a:latin typeface="Inter" panose="020B0604020202020204" charset="0"/>
                  <a:ea typeface="Inter" panose="020B0604020202020204" charset="0"/>
                </a:rPr>
                <a:t>Procure to Pay</a:t>
              </a:r>
            </a:p>
            <a:p>
              <a:pPr marL="285750" marR="0" lvl="0" indent="-28575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en-IN" dirty="0">
                  <a:solidFill>
                    <a:schemeClr val="tx1"/>
                  </a:solidFill>
                  <a:latin typeface="Inter" panose="020B0604020202020204" charset="0"/>
                  <a:ea typeface="Inter" panose="020B0604020202020204" charset="0"/>
                </a:rPr>
                <a:t>Order to Cash</a:t>
              </a:r>
            </a:p>
            <a:p>
              <a:pPr marL="285750" marR="0" lvl="0" indent="-28575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en-IN" dirty="0">
                  <a:solidFill>
                    <a:schemeClr val="tx1"/>
                  </a:solidFill>
                  <a:latin typeface="Inter" panose="020B0604020202020204" charset="0"/>
                  <a:ea typeface="Inter" panose="020B0604020202020204" charset="0"/>
                </a:rPr>
                <a:t>Inventory Management</a:t>
              </a:r>
            </a:p>
            <a:p>
              <a:pPr marL="285750" marR="0" lvl="0" indent="-28575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en-IN" dirty="0">
                  <a:solidFill>
                    <a:schemeClr val="tx1"/>
                  </a:solidFill>
                  <a:latin typeface="Inter" panose="020B0604020202020204" charset="0"/>
                  <a:ea typeface="Inter" panose="020B0604020202020204" charset="0"/>
                </a:rPr>
                <a:t>Scrap Management</a:t>
              </a:r>
            </a:p>
            <a:p>
              <a:pPr marL="285750" marR="0" lvl="0" indent="-28575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en-IN" dirty="0">
                  <a:solidFill>
                    <a:schemeClr val="tx1"/>
                  </a:solidFill>
                  <a:latin typeface="Inter" panose="020B0604020202020204" charset="0"/>
                  <a:ea typeface="Inter" panose="020B0604020202020204" charset="0"/>
                </a:rPr>
                <a:t>Quality Management</a:t>
              </a:r>
            </a:p>
            <a:p>
              <a:pPr marL="285750" marR="0" lvl="0" indent="-28575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en-IN" dirty="0">
                  <a:solidFill>
                    <a:schemeClr val="tx1"/>
                  </a:solidFill>
                  <a:latin typeface="Inter" panose="020B0604020202020204" charset="0"/>
                  <a:ea typeface="Inter" panose="020B0604020202020204" charset="0"/>
                </a:rPr>
                <a:t>Taxation</a:t>
              </a:r>
            </a:p>
            <a:p>
              <a:pPr marL="285750" marR="0" lvl="0" indent="-28575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en-IN" dirty="0">
                  <a:solidFill>
                    <a:schemeClr val="tx1"/>
                  </a:solidFill>
                  <a:latin typeface="Inter" panose="020B0604020202020204" charset="0"/>
                  <a:ea typeface="Inter" panose="020B0604020202020204" charset="0"/>
                </a:rPr>
                <a:t>Cyber Security/ITGC</a:t>
              </a:r>
              <a:endParaRPr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endParaRPr>
            </a:p>
          </p:txBody>
        </p:sp>
      </p:grpSp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281208"/>
            <a:ext cx="9994490" cy="96054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674720" y="1315398"/>
            <a:ext cx="8676735" cy="8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Review Period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1674720" y="1539906"/>
            <a:ext cx="826355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Testing procedures were conducted on transactions, access logs, and operational activities occurring between January 1, 2026, and September 30, 2026.</a:t>
            </a:r>
            <a:endParaRPr sz="1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C948A6-4D73-BE05-84D5-DB70A6BD8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1523" y="241622"/>
            <a:ext cx="1445341" cy="895443"/>
          </a:xfrm>
          <a:prstGeom prst="rect">
            <a:avLst/>
          </a:prstGeom>
        </p:spPr>
      </p:pic>
      <p:pic>
        <p:nvPicPr>
          <p:cNvPr id="5" name="Google Shape;119;p15" descr="image.png">
            <a:extLst>
              <a:ext uri="{FF2B5EF4-FFF2-40B4-BE49-F238E27FC236}">
                <a16:creationId xmlns:a16="http://schemas.microsoft.com/office/drawing/2014/main" id="{869F681C-E64F-C331-139B-B96FE0FADA6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0880" y="1389089"/>
            <a:ext cx="672281" cy="680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8;p15" descr="image.png">
            <a:extLst>
              <a:ext uri="{FF2B5EF4-FFF2-40B4-BE49-F238E27FC236}">
                <a16:creationId xmlns:a16="http://schemas.microsoft.com/office/drawing/2014/main" id="{44928072-C9E0-0A9E-09A8-CD7F842EF85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0881" y="2675967"/>
            <a:ext cx="763840" cy="663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1125" y="1971675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762000" y="647700"/>
            <a:ext cx="11201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Approach &amp; Methodology</a:t>
            </a:r>
            <a:endParaRPr dirty="0"/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1125" y="1971675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6810375" y="1571625"/>
            <a:ext cx="4619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Risk Assessment: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Conducted preliminary risk scoring based on financial materiality and operational criticality.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6810375" y="2724150"/>
            <a:ext cx="4619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Process Walkthroughs: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Interviewed process owners to document current-state workflows and identify key control points.</a:t>
            </a:r>
            <a:endParaRPr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6810375" y="3876675"/>
            <a:ext cx="4619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Sample Testing: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Applied statistical sampling to test the operating effectiveness of 45 distinct controls over a 9-month period.</a:t>
            </a:r>
            <a:endParaRPr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6810375" y="5029200"/>
            <a:ext cx="4619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Evaluation: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Assessed identified control gaps against the COSO framework and evaluated existing compensating controls.</a:t>
            </a:r>
            <a:endParaRPr dirty="0"/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16002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275272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3905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81750" y="505777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66AEA04-8667-D654-D9A0-B30C5E07A1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61523" y="241622"/>
            <a:ext cx="1445341" cy="8954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647700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 Executive Summary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2019150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Based on the results of our testing, the overall control environment is rated as 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"Needs Improvement"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2659335"/>
            <a:ext cx="49530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While foundational financial and operational controls are well-designed and operating effectively, significant deficiencies were identified in IT user access management and vendor onboarding processes.</a:t>
            </a:r>
            <a:endParaRPr dirty="0"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3981699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Management has proactively acknowledged these findings and has committed resources to execute a robust remediation plan by the end of Q4.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6F1687-A5A4-E7DE-AC72-7F5C410590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1523" y="241622"/>
            <a:ext cx="1445341" cy="895443"/>
          </a:xfrm>
          <a:prstGeom prst="rect">
            <a:avLst/>
          </a:prstGeom>
        </p:spPr>
      </p:pic>
      <p:sp>
        <p:nvSpPr>
          <p:cNvPr id="3" name="Google Shape;110;p15">
            <a:extLst>
              <a:ext uri="{FF2B5EF4-FFF2-40B4-BE49-F238E27FC236}">
                <a16:creationId xmlns:a16="http://schemas.microsoft.com/office/drawing/2014/main" id="{6B84C264-C303-F3DD-E67D-712FD1C9CA1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101;p14">
            <a:extLst>
              <a:ext uri="{FF2B5EF4-FFF2-40B4-BE49-F238E27FC236}">
                <a16:creationId xmlns:a16="http://schemas.microsoft.com/office/drawing/2014/main" id="{E1FDAD35-91DB-33AA-5C7F-A11D95BD1F0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1302487"/>
            <a:ext cx="5140427" cy="5078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004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762000" y="647700"/>
            <a:ext cx="11201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Summary of Key Findings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771525" y="2020192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2368748" y="2020192"/>
            <a:ext cx="4791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7160716" y="2020192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8757939" y="2020192"/>
            <a:ext cx="26625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771525" y="2883098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2368748" y="2883098"/>
            <a:ext cx="4791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7160716" y="2883098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8757939" y="2883098"/>
            <a:ext cx="26625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771525" y="3746003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2368748" y="3746003"/>
            <a:ext cx="4791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7160716" y="3746003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8757939" y="3746003"/>
            <a:ext cx="26625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771525" y="4608909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2368748" y="4608909"/>
            <a:ext cx="4791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7160716" y="4608909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8757939" y="4608909"/>
            <a:ext cx="26625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771525" y="5471814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2368748" y="5471814"/>
            <a:ext cx="4791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7160716" y="5471814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8757939" y="5471814"/>
            <a:ext cx="26625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833E89-C583-6941-D573-7A6C7490E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1523" y="241622"/>
            <a:ext cx="1445341" cy="8954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762000" y="647700"/>
            <a:ext cx="11201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Risk Distribution Profile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F906A5-5A8F-6915-15AC-90258297D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1523" y="241622"/>
            <a:ext cx="1445341" cy="8954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66850"/>
            <a:ext cx="10668000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762000" y="647700"/>
            <a:ext cx="11201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Insights/Exceptions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by </a:t>
            </a:r>
            <a:r>
              <a:rPr lang="en-US" sz="2850" b="1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Process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466850"/>
            <a:ext cx="5048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762000" y="647700"/>
            <a:ext cx="112014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6. Conclusion &amp; Next Steps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762000" y="1466850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Path Forward to Compliance</a:t>
            </a:r>
            <a:endParaRPr dirty="0"/>
          </a:p>
        </p:txBody>
      </p:sp>
      <p:sp>
        <p:nvSpPr>
          <p:cNvPr id="193" name="Google Shape;193;p19"/>
          <p:cNvSpPr txBox="1"/>
          <p:nvPr/>
        </p:nvSpPr>
        <p:spPr>
          <a:xfrm>
            <a:off x="762000" y="1981200"/>
            <a:ext cx="50482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proactive stance taken by executive management to address the IT and vendor management deficiencies highlights a strong organizational commitment to a mature control environment.</a:t>
            </a:r>
            <a:endParaRPr dirty="0"/>
          </a:p>
        </p:txBody>
      </p:sp>
      <p:pic>
        <p:nvPicPr>
          <p:cNvPr id="194" name="Google Shape;19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49" y="1466849"/>
            <a:ext cx="5456289" cy="451116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1190625" y="3316485"/>
            <a:ext cx="4619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Execution: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Complete the Q4 remediation plan focusing on automated access de-provisioning protocols.</a:t>
            </a:r>
            <a:endParaRPr dirty="0"/>
          </a:p>
        </p:txBody>
      </p:sp>
      <p:sp>
        <p:nvSpPr>
          <p:cNvPr id="196" name="Google Shape;196;p19"/>
          <p:cNvSpPr txBox="1"/>
          <p:nvPr/>
        </p:nvSpPr>
        <p:spPr>
          <a:xfrm>
            <a:off x="1190625" y="4469010"/>
            <a:ext cx="4619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Internal Audit to conduct formal validation testing of all remediated controls in January 2027.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1190625" y="5621535"/>
            <a:ext cx="4619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Monitoring: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Implement continuous monitoring dashboards to track privileged system access req.</a:t>
            </a:r>
            <a:endParaRPr dirty="0"/>
          </a:p>
        </p:txBody>
      </p:sp>
      <p:pic>
        <p:nvPicPr>
          <p:cNvPr id="198" name="Google Shape;19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34506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49758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5650110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385</Words>
  <Application>Microsoft Office PowerPoint</Application>
  <PresentationFormat>Widescreen</PresentationFormat>
  <Paragraphs>36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Calibri</vt:lpstr>
      <vt:lpstr>Playfair Display</vt:lpstr>
      <vt:lpstr>Wingdings</vt:lpstr>
      <vt:lpstr>Inter Light</vt:lpstr>
      <vt:lpstr>Inter</vt:lpstr>
      <vt:lpstr>Inter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ajalabs ai</dc:creator>
  <cp:lastModifiedBy>Abinesh S</cp:lastModifiedBy>
  <cp:revision>4</cp:revision>
  <dcterms:modified xsi:type="dcterms:W3CDTF">2026-06-18T10:32:23Z</dcterms:modified>
</cp:coreProperties>
</file>